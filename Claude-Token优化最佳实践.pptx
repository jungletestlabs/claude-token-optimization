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占比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C2626"/>
              </a:solidFill>
              <a:effectLst/>
            </c:spPr>
          </c:dPt>
          <c:dPt>
            <c:idx val="1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bubble3D val="0"/>
            <c:spPr>
              <a:solidFill>
                <a:srgbClr val="D97706"/>
              </a:solidFill>
              <a:effectLst/>
            </c:spPr>
          </c:dPt>
          <c:dPt>
            <c:idx val="3"/>
            <c:bubble3D val="0"/>
            <c:spPr>
              <a:solidFill>
                <a:srgbClr val="028090"/>
              </a:solidFill>
              <a:effectLst/>
            </c:spPr>
          </c:dPt>
          <c:dPt>
            <c:idx val="4"/>
            <c:bubble3D val="0"/>
            <c:spPr>
              <a:solidFill>
                <a:srgbClr val="64748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文件读取</c:v>
                </c:pt>
                <c:pt idx="1">
                  <c:v>对话历史</c:v>
                </c:pt>
                <c:pt idx="2">
                  <c:v>系统提示词</c:v>
                </c:pt>
                <c:pt idx="3">
                  <c:v>输出回答</c:v>
                </c:pt>
                <c:pt idx="4">
                  <c:v>工具定义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45</c:v>
                </c:pt>
                <c:pt idx="1">
                  <c:v>30</c:v>
                </c:pt>
                <c:pt idx="2">
                  <c:v>12</c:v>
                </c:pt>
                <c:pt idx="3">
                  <c:v>8</c:v>
                </c:pt>
                <c:pt idx="4">
                  <c:v>5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1E2761"/>
                </a:solidFill>
                <a:latin typeface="Arial"/>
              </a:defRPr>
            </a:pPr>
            <a:r>
              <a:rPr sz="1800" b="0" i="0" u="none" strike="noStrike">
                <a:solidFill>
                  <a:srgbClr val="1E2761"/>
                </a:solidFill>
                <a:latin typeface="Arial"/>
              </a:rPr>
              <a:t>对话轮次 vs 输入Token (K)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不做压缩</c:v>
                </c:pt>
              </c:strCache>
            </c:strRef>
          </c:tx>
          <c:spPr>
            <a:solidFill>
              <a:srgbClr val="DC2626"/>
            </a:solidFill>
            <a:ln w="31750" cap="flat">
              <a:solidFill>
                <a:srgbClr val="DC262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C2626"/>
              </a:solidFill>
              <a:ln w="9525" cap="flat">
                <a:solidFill>
                  <a:srgbClr val="DC262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</c:v>
                </c:pt>
                <c:pt idx="1">
                  <c:v>60</c:v>
                </c:pt>
                <c:pt idx="2">
                  <c:v>120</c:v>
                </c:pt>
                <c:pt idx="3">
                  <c:v>190</c:v>
                </c:pt>
                <c:pt idx="4">
                  <c:v>260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每10轮compact</c:v>
                </c:pt>
              </c:strCache>
            </c:strRef>
          </c:tx>
          <c:spPr>
            <a:solidFill>
              <a:srgbClr val="EA580C"/>
            </a:solidFill>
            <a:ln w="31750" cap="flat">
              <a:solidFill>
                <a:srgbClr val="EA580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A580C"/>
              </a:solidFill>
              <a:ln w="9525" cap="flat">
                <a:solidFill>
                  <a:srgbClr val="EA580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15</c:v>
                </c:pt>
                <c:pt idx="1">
                  <c:v>60</c:v>
                </c:pt>
                <c:pt idx="2">
                  <c:v>70</c:v>
                </c:pt>
                <c:pt idx="3">
                  <c:v>60</c:v>
                </c:pt>
                <c:pt idx="4">
                  <c:v>90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每5轮compact</c:v>
                </c:pt>
              </c:strCache>
            </c:strRef>
          </c:tx>
          <c:spPr>
            <a:solidFill>
              <a:srgbClr val="028090"/>
            </a:solidFill>
            <a:ln w="31750" cap="flat">
              <a:solidFill>
                <a:srgbClr val="02809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28090"/>
              </a:solidFill>
              <a:ln w="9525" cap="flat">
                <a:solidFill>
                  <a:srgbClr val="02809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15</c:v>
                </c:pt>
                <c:pt idx="1">
                  <c:v>28</c:v>
                </c:pt>
                <c:pt idx="2">
                  <c:v>25</c:v>
                </c:pt>
                <c:pt idx="3">
                  <c:v>30</c:v>
                </c:pt>
                <c:pt idx="4">
                  <c:v>28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月费用($)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770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基准</c:v>
                  </c:pt>
                  <c:pt idx="1">
                    <c:v>+配置优化</c:v>
                  </c:pt>
                  <c:pt idx="2">
                    <c:v>+流程优化</c:v>
                  </c:pt>
                  <c:pt idx="3">
                    <c:v>全面优化</c:v>
                  </c:pt>
                  <c:pt idx="4">
                    <c:v>混合模型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759</c:v>
                </c:pt>
                <c:pt idx="1">
                  <c:v>437</c:v>
                </c:pt>
                <c:pt idx="2">
                  <c:v>105</c:v>
                </c:pt>
                <c:pt idx="3">
                  <c:v>68</c:v>
                </c:pt>
                <c:pt idx="4">
                  <c:v>52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5143500"/>
          </a:xfrm>
          <a:prstGeom prst="rect">
            <a:avLst/>
          </a:prstGeom>
          <a:solidFill>
            <a:srgbClr val="2A3A7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00"/>
            <a:ext cx="32004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0" y="109728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Token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优化最佳实践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3657600" y="27432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</a:rPr>
              <a:t>系统性减少Token消耗的方法论与实践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0" y="4114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面向安卓转鸿蒙开发团队  |  2026年5月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109728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pc="8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spc="8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OPTIMIZATION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议程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14400" y="118872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Token消耗全景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931920" y="11887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钱花在哪了？输入/输出各阶段占比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54480" y="169164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7830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54480" y="17830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成本量化模型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931920" y="17830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Sonnet vs Opus vs DeepSeek 真实成本对比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554480" y="228600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3774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554480" y="23774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四大优化支柱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931920" y="23774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配置 · 流程 · 提示 · 工具链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554480" y="288036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29718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554480" y="29718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量化对比与ROI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931920" y="29718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优化前 vs 优化后 — 省了多少钱？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554480" y="347472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35661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05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554480" y="35661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安卓转鸿蒙专项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931920" y="35661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针对迁移项目的特殊策略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554480" y="406908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416052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06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554480" y="4160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行动清单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931920" y="41605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今天/本周/持续要做的事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Token消耗全景 — 钱花在哪了？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754880" y="1097280"/>
          <a:ext cx="39319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1188720"/>
            <a:ext cx="38404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</a:rPr>
              <a:t>文件读取 45%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每次 @file 读取整个.ets文件(5K-15K tokens)，项目中需反复读取多个文件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EA580C"/>
                </a:solidFill>
              </a:rPr>
              <a:t>对话历史 30%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每轮对话都携带全部历史，第40轮时单次输入可达260K tokens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</a:rPr>
              <a:t>系统提示词 12%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Claude Code默认系统提示 ~5K tokens，每次会话都注入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40080" y="3931920"/>
            <a:ext cx="7863840" cy="502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397764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⚠️ 文件读取 + 对话历史 = 75% Token消耗 → 这是优化的主战场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成本量化模型 — 三种模型对比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188720"/>
            <a:ext cx="25603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188720"/>
            <a:ext cx="256032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371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Claude Opus 4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1691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最强推理，最贵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" y="2103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输入: $15/MTok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2377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输出: $75/MTok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2834640"/>
            <a:ext cx="2194560" cy="5486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29718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月费用(未优化)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2960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C2626"/>
                </a:solidFill>
              </a:rPr>
              <a:t>$3,795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822960" y="3749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假定: 100次/天 × 22天, 每次100K输入+3K输出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4720" y="1188720"/>
            <a:ext cx="25603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474720" y="1188720"/>
            <a:ext cx="256032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0" y="1371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Claude Sonnet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657600" y="1691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日常开发主力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657600" y="2103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输入: $3/MTok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657600" y="2377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输出: $15/MTok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0" y="2834640"/>
            <a:ext cx="2194560" cy="5486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Text 22"/>
          <p:cNvSpPr/>
          <p:nvPr/>
        </p:nvSpPr>
        <p:spPr>
          <a:xfrm>
            <a:off x="3657600" y="29718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月费用(未优化)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0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A580C"/>
                </a:solidFill>
              </a:rPr>
              <a:t>$759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3657600" y="3749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假定: 100次/天 × 22天, 每次100K输入+3K输出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309360" y="1188720"/>
            <a:ext cx="25603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309360" y="1188720"/>
            <a:ext cx="256032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9" name="Text 27"/>
          <p:cNvSpPr/>
          <p:nvPr/>
        </p:nvSpPr>
        <p:spPr>
          <a:xfrm>
            <a:off x="6492240" y="1371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DeepSeek V4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492240" y="1691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性价比之王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92240" y="2103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输入: ¥2/MTok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92240" y="2377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输出: ¥8/MTok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492240" y="2834640"/>
            <a:ext cx="2194560" cy="5486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4" name="Text 32"/>
          <p:cNvSpPr/>
          <p:nvPr/>
        </p:nvSpPr>
        <p:spPr>
          <a:xfrm>
            <a:off x="6492240" y="29718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月费用(未优化)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492240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59669"/>
                </a:solidFill>
              </a:rPr>
              <a:t>¥493 (~$69)</a:t>
            </a:r>
            <a:endParaRPr lang="en-US" sz="2800" dirty="0"/>
          </a:p>
        </p:txBody>
      </p:sp>
      <p:sp>
        <p:nvSpPr>
          <p:cNvPr id="36" name="Text 34"/>
          <p:cNvSpPr/>
          <p:nvPr/>
        </p:nvSpPr>
        <p:spPr>
          <a:xfrm>
            <a:off x="6492240" y="3749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假定: 100次/天 × 22天, 每次100K输入+3K输出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四大优化支柱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188720"/>
            <a:ext cx="182880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188720"/>
            <a:ext cx="18288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1371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🔧 配置优化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28600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关扩展思考 · .claudeignore · CLAUDE.md精简 · 环境变量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005840" y="3520440"/>
            <a:ext cx="1097280" cy="4572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354787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省 42%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2697480" y="1188720"/>
            <a:ext cx="182880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697480" y="1188720"/>
            <a:ext cx="182880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5" name="Text 13"/>
          <p:cNvSpPr/>
          <p:nvPr/>
        </p:nvSpPr>
        <p:spPr>
          <a:xfrm>
            <a:off x="2834640" y="1371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📋 流程优化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834640" y="228600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分模块会话 · 定期/compact · /memory跨会话 · 自动压缩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63240" y="3520440"/>
            <a:ext cx="1097280" cy="4572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6"/>
          <p:cNvSpPr/>
          <p:nvPr/>
        </p:nvSpPr>
        <p:spPr>
          <a:xfrm>
            <a:off x="3063240" y="354787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省 60%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754880" y="1188720"/>
            <a:ext cx="182880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1188720"/>
            <a:ext cx="182880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1" name="Text 19"/>
          <p:cNvSpPr/>
          <p:nvPr/>
        </p:nvSpPr>
        <p:spPr>
          <a:xfrm>
            <a:off x="4892040" y="1371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💬 提示优化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892040" y="228600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列表式提问 · @引用精确 · 限制输出 · 模板化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120640" y="3520440"/>
            <a:ext cx="1097280" cy="4572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4" name="Text 22"/>
          <p:cNvSpPr/>
          <p:nvPr/>
        </p:nvSpPr>
        <p:spPr>
          <a:xfrm>
            <a:off x="5120640" y="354787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省 35%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6812280" y="1188720"/>
            <a:ext cx="182880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812280" y="1188720"/>
            <a:ext cx="182880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7" name="Text 25"/>
          <p:cNvSpPr/>
          <p:nvPr/>
        </p:nvSpPr>
        <p:spPr>
          <a:xfrm>
            <a:off x="6949440" y="1371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🏭 工具链优化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949440" y="228600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多模型分层 · DeepSeek替代 · Prompt Caching · 审查分离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8040" y="3520440"/>
            <a:ext cx="1097280" cy="4572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0" name="Text 28"/>
          <p:cNvSpPr/>
          <p:nvPr/>
        </p:nvSpPr>
        <p:spPr>
          <a:xfrm>
            <a:off x="7178040" y="354787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省 70%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640080" y="4389120"/>
            <a:ext cx="7863840" cy="4114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441655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四项叠加: 全面优化可节省 91% Token消耗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配置优化 — 10分钟省42%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188720"/>
            <a:ext cx="45720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188720"/>
            <a:ext cx="54864" cy="640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23444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关闭扩展思考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60320" y="123444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</a:rPr>
              <a:t>省30-40%输出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68680" y="150876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ENABLE_THINKING=false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1938528"/>
            <a:ext cx="45720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1938528"/>
            <a:ext cx="54864" cy="640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19842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启用自动压缩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560320" y="198424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</a:rPr>
              <a:t>省20-30%输入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68680" y="225856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AUTO_COMPACT=true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0080" y="2688336"/>
            <a:ext cx="45720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2688336"/>
            <a:ext cx="54864" cy="640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27340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创建.claudeignore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560320" y="273405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</a:rPr>
              <a:t>省20-40%文件读取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68680" y="300837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排除build/ oh_modules/ *.hap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3438144"/>
            <a:ext cx="45720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0080" y="3438144"/>
            <a:ext cx="54864" cy="640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4" name="Text 22"/>
          <p:cNvSpPr/>
          <p:nvPr/>
        </p:nvSpPr>
        <p:spPr>
          <a:xfrm>
            <a:off x="868680" y="348386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精简CLAUDE.md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560320" y="348386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</a:rPr>
              <a:t>省10-15%输入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68680" y="375818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&lt;1,500 tokens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" y="4187952"/>
            <a:ext cx="45720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40080" y="4187952"/>
            <a:ext cx="54864" cy="640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9" name="Text 27"/>
          <p:cNvSpPr/>
          <p:nvPr/>
        </p:nvSpPr>
        <p:spPr>
          <a:xfrm>
            <a:off x="868680" y="423367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切换便宜模型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560320" y="423367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</a:rPr>
              <a:t>省60-80%总费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68680" y="450799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DeepSeek V4 替代 Sonnet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486400" y="1188720"/>
            <a:ext cx="3200400" cy="18288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3" name="Text 31"/>
          <p:cNvSpPr/>
          <p:nvPr/>
        </p:nvSpPr>
        <p:spPr>
          <a:xfrm>
            <a:off x="5669280" y="12801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优化前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669280" y="16459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</a:rPr>
              <a:t>$759/月</a:t>
            </a:r>
            <a:endParaRPr lang="en-US" sz="3600" dirty="0"/>
          </a:p>
        </p:txBody>
      </p:sp>
      <p:sp>
        <p:nvSpPr>
          <p:cNvPr id="35" name="Text 33"/>
          <p:cNvSpPr/>
          <p:nvPr/>
        </p:nvSpPr>
        <p:spPr>
          <a:xfrm>
            <a:off x="5669280" y="21945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Sonnet 模型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486400" y="3291840"/>
            <a:ext cx="3200400" cy="18288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0" y="33832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优化后 (仅配置)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669280" y="37490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$437/月</a:t>
            </a:r>
            <a:endParaRPr lang="en-US" sz="3600" dirty="0"/>
          </a:p>
        </p:txBody>
      </p:sp>
      <p:sp>
        <p:nvSpPr>
          <p:cNvPr id="39" name="Text 37"/>
          <p:cNvSpPr/>
          <p:nvPr/>
        </p:nvSpPr>
        <p:spPr>
          <a:xfrm>
            <a:off x="5669280" y="42976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↓ 节省 $322 (42%)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上下文管理 — /compact与分模块会话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40080" y="1097280"/>
          <a:ext cx="50292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5943600" y="1280160"/>
            <a:ext cx="256032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943600" y="1280160"/>
            <a:ext cx="54864" cy="7772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0" name="Text 7"/>
          <p:cNvSpPr/>
          <p:nvPr/>
        </p:nvSpPr>
        <p:spPr>
          <a:xfrm>
            <a:off x="6172200" y="1353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不压缩 40轮后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172200" y="16002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C2626"/>
                </a:solidFill>
              </a:rPr>
              <a:t>260K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943600" y="2286000"/>
            <a:ext cx="256032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943600" y="2286000"/>
            <a:ext cx="54864" cy="77724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4" name="Text 11"/>
          <p:cNvSpPr/>
          <p:nvPr/>
        </p:nvSpPr>
        <p:spPr>
          <a:xfrm>
            <a:off x="6172200" y="23591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每10轮compact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172200" y="26060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A580C"/>
                </a:solidFill>
              </a:rPr>
              <a:t>90K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943600" y="3291840"/>
            <a:ext cx="256032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943600" y="3291840"/>
            <a:ext cx="54864" cy="7772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8" name="Text 15"/>
          <p:cNvSpPr/>
          <p:nvPr/>
        </p:nvSpPr>
        <p:spPr>
          <a:xfrm>
            <a:off x="6172200" y="33649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每5轮compact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172200" y="36118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</a:rPr>
              <a:t>28K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40080" y="41605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16070"/>
                </a:solidFill>
              </a:rPr>
              <a:t>💡 建议: 每10-15轮执行 /compact，每完成一个模块开始新会话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量化对比 — 优化到底省多少？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40080" y="1097280"/>
          <a:ext cx="502920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5943600" y="1280160"/>
            <a:ext cx="2560320" cy="86868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9" name="Text 6"/>
          <p:cNvSpPr/>
          <p:nvPr/>
        </p:nvSpPr>
        <p:spPr>
          <a:xfrm>
            <a:off x="6126480" y="135331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优化前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126480" y="15544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$9,108/年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6126480" y="187452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基准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943600" y="2331720"/>
            <a:ext cx="2560320" cy="8686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3" name="Text 10"/>
          <p:cNvSpPr/>
          <p:nvPr/>
        </p:nvSpPr>
        <p:spPr>
          <a:xfrm>
            <a:off x="6126480" y="240487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全面优化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126480" y="2606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$816/年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126480" y="29260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↓ 91%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943600" y="3383280"/>
            <a:ext cx="2560320" cy="8686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7" name="Text 14"/>
          <p:cNvSpPr/>
          <p:nvPr/>
        </p:nvSpPr>
        <p:spPr>
          <a:xfrm>
            <a:off x="6126480" y="345643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混合模型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126480" y="3657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$624/年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6126480" y="397764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↓ 93%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40080" y="4389120"/>
            <a:ext cx="7863840" cy="502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1" name="Text 18"/>
          <p:cNvSpPr/>
          <p:nvPr/>
        </p:nvSpPr>
        <p:spPr>
          <a:xfrm>
            <a:off x="822960" y="443484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年节省: $8,292 (Sonnet) / $41,460 (Opus)  → 相当于一个中级开发者的月薪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安卓转鸿蒙场景专项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独特挑战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55448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📁 双语言上下文: Kotlin原文 + ArkTS译文 = 2倍文件读取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🔄 API映射查询: findViewById→@State, 每次需额外token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📚 大量参考代码: 12+ Activity → 12+ Page需要原文对照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🏗️ 架构差异: Android组件→鸿蒙组件, 持续需要解释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🔧 反复迭代修改: UI调整/API替换→累积对话历史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优化策略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29200" y="1554480"/>
            <a:ext cx="347472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029200" y="1554480"/>
            <a:ext cx="54864" cy="7772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5212080" y="1645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API映射表缓存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212080" y="20116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CLAUDE.md内置映射表，启用Prompt Caching 省70%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0" y="2468880"/>
            <a:ext cx="347472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029200" y="2468880"/>
            <a:ext cx="54864" cy="77724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/>
          <p:nvPr/>
        </p:nvSpPr>
        <p:spPr>
          <a:xfrm>
            <a:off x="5212080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分模块迁移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212080" y="29260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1模块1会话，完成即compact 省80%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0" y="3383280"/>
            <a:ext cx="347472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029200" y="3383280"/>
            <a:ext cx="54864" cy="7772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0" name="Text 18"/>
          <p:cNvSpPr/>
          <p:nvPr/>
        </p:nvSpPr>
        <p:spPr>
          <a:xfrm>
            <a:off x="5212080" y="3474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DeepSeek主力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212080" y="38404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70%任务用DeepSeek V4 省60%总费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4297680"/>
            <a:ext cx="7863840" cy="5943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434340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迁移项目(12模块):  未优化 $1,440(Opus) → 优化后 $22(混合)  =  节省 98.5%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行动清单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097280"/>
            <a:ext cx="1645920" cy="36576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11556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今天 (10分钟)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589520" y="1097280"/>
            <a:ext cx="914400" cy="36576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0" y="111556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→ 立即省 20%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150876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export CLAUDE_CODE_ENABLE_THINKING=false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export CLAUDE_CODE_AUTO_COMPACT=true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export CLAUDE_CODE_MAX_TOKENS=4096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377440"/>
            <a:ext cx="1645920" cy="36576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39572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本周 (40分钟)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589520" y="2377440"/>
            <a:ext cx="914400" cy="36576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23957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→ 累计省 42%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27889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创建 .claudeignore 排除 build/oh_modules/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精简 CLAUDE.md 至 &lt;1,500 tokens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安装 DeepSeek V4 模型配置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645920" cy="3657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67588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持续养成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589520" y="3657600"/>
            <a:ext cx="914400" cy="3657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0" y="367588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28090"/>
                </a:solidFill>
              </a:rPr>
              <a:t>→ 累计省 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2960" y="406908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每10-15轮执行 /compact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一个模块一个会话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简单任务用 DeepSeek，架构用 Opus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用高效提问模板 （列表 + @引用）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5143500"/>
          </a:xfrm>
          <a:prstGeom prst="rect">
            <a:avLst/>
          </a:prstGeom>
          <a:solidFill>
            <a:srgbClr val="2A3A7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00"/>
            <a:ext cx="32004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0" y="137160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感谢聆听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3657600" y="2286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</a:rPr>
              <a:t>三个关键数字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0" y="2834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A896"/>
                </a:solidFill>
              </a:rPr>
              <a:t>91%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657600" y="3383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最大节省比例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03520" y="2834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A896"/>
                </a:solidFill>
              </a:rPr>
              <a:t>10min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303520" y="3383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最小投入时间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949440" y="2834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A896"/>
                </a:solidFill>
              </a:rPr>
              <a:t>$8,292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949440" y="3383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年节省(Sonnet)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57600" y="43891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GitHub: JungleTestLabs/claude-token-optimization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5760" y="109728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pc="8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spc="8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OPTIMIZATION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Token 优化最佳实践</dc:title>
  <dc:subject>PptxGenJS Presentation</dc:subject>
  <dc:creator>狗助 (Dog Assistant)</dc:creator>
  <cp:lastModifiedBy>狗助 (Dog Assistant)</cp:lastModifiedBy>
  <cp:revision>1</cp:revision>
  <dcterms:created xsi:type="dcterms:W3CDTF">2026-05-08T22:39:53Z</dcterms:created>
  <dcterms:modified xsi:type="dcterms:W3CDTF">2026-05-08T22:39:53Z</dcterms:modified>
</cp:coreProperties>
</file>